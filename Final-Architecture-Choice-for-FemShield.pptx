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83" r:id="rId2"/>
    <p:sldId id="28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56" r:id="rId14"/>
    <p:sldId id="257" r:id="rId15"/>
    <p:sldId id="282" r:id="rId16"/>
    <p:sldId id="268" r:id="rId17"/>
    <p:sldId id="280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4630400" cy="8229600"/>
  <p:notesSz cx="8229600" cy="146304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Manrope" panose="020B0604020202020204" charset="0"/>
      <p:regular r:id="rId35"/>
    </p:embeddedFont>
    <p:embeddedFont>
      <p:font typeface="Prata" panose="020B0604020202020204" charset="0"/>
      <p:regular r:id="rId36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5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92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82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79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139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849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773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852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952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302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647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778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3916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07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288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47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931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60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036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036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8578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600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7034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9629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4764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2427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5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2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1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1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4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1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9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4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2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860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5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FemShield – Femeia Empowerment Application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40297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By:</a:t>
            </a:r>
            <a:endParaRPr lang="en-US" sz="2800" b="1" dirty="0"/>
          </a:p>
        </p:txBody>
      </p:sp>
      <p:sp>
        <p:nvSpPr>
          <p:cNvPr id="4" name="Text 2"/>
          <p:cNvSpPr/>
          <p:nvPr/>
        </p:nvSpPr>
        <p:spPr>
          <a:xfrm>
            <a:off x="793790" y="46478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Muhammad Anas - F2024065172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50900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ctr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Muhammad Umair Hassan - F2024065232</a:t>
            </a: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BE7E4-8649-4E2D-BBF5-D3564A3C4075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893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0292"/>
            <a:ext cx="90461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FemShield: Architecture Analysis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93790" y="25426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deeper dive into the design choices and their benefits for the FemShield application.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3790" y="316075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6075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Modularity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42524" y="3908465"/>
            <a:ext cx="5801916" cy="98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Microservices allow independent development and deployment of features.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28548" y="316075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16075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418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Integrity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7282" y="390846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Robust database management ensures data consistency and reliability.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3790" y="511837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118378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Experience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142524" y="5866090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Responsive design and efficient data handling for a seamless user journey.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118378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Future-Proofing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777282" y="586609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Scalable infrastructure supports future growth and feature additions.</a:t>
            </a:r>
            <a:endParaRPr lang="en-US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D26B6C-21CF-403B-B76C-0BCACEB8FC6E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159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3955"/>
            <a:ext cx="62270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1. Layered Architecture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263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Divides the system into horizontal layers, each with specific responsibilities.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44416"/>
            <a:ext cx="6407944" cy="3140154"/>
          </a:xfrm>
          <a:prstGeom prst="roundRect">
            <a:avLst>
              <a:gd name="adj" fmla="val 1084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1712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Common Layers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604" y="366164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Presentation (UI)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604" y="410384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Business Logic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604" y="454604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Data Access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0604" y="498824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Database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28548" y="2944416"/>
            <a:ext cx="6408063" cy="3140154"/>
          </a:xfrm>
          <a:prstGeom prst="roundRect">
            <a:avLst>
              <a:gd name="adj" fmla="val 1084"/>
            </a:avLst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3171230"/>
            <a:ext cx="2941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FemShield Suitability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55362" y="3661648"/>
            <a:ext cx="595443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kumimoji="0" lang="en-US" sz="240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Suitable (Partially Used)</a:t>
            </a:r>
            <a:endParaRPr kumimoji="0" lang="en-US" sz="240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5362" y="416825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UI Layer: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Flutter / React Native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55362" y="461045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 Layer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: SOS, chat, tracking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55362" y="5052655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Data Layer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: Firebase / PostgreSQL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55362" y="549485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Security Layer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: Auth &amp; encryption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633972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Benefits include clear separation of responsibilities and easier debugging. Drawbacks are performance overhead and tight dependencies.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17E227-90B2-48E4-A6F0-879A2688489A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228958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3475"/>
            <a:ext cx="7942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2. Client–Server Architecture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958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Consists of a client (mobile/web app) and a server (backend system handling logic, database, and APIs).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13936"/>
            <a:ext cx="6407944" cy="3201114"/>
          </a:xfrm>
          <a:prstGeom prst="roundRect">
            <a:avLst>
              <a:gd name="adj" fmla="val 4570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13936"/>
            <a:ext cx="121920" cy="3201114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1712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Explanation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366164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Clients send requests; the server processes and responds, centralizing data and logic.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2913936"/>
            <a:ext cx="6408063" cy="3201114"/>
          </a:xfrm>
          <a:prstGeom prst="roundRect">
            <a:avLst>
              <a:gd name="adj" fmla="val 4570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913936"/>
            <a:ext cx="121920" cy="3201114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171230"/>
            <a:ext cx="2941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FemShield Suitability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7282" y="3661648"/>
            <a:ext cx="580203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kumimoji="0" lang="en-US" sz="2200" i="0" u="sng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Highly Suitable (Primary Architecture)</a:t>
            </a:r>
            <a:endParaRPr kumimoji="0" lang="en-US" sz="220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7282" y="416825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Centralized data storage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7282" y="4610457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Real-time SOS alerts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7282" y="5052655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User authentication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7282" y="549485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Admin monitoring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637020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Benefits include centralized control and security, easy data management, and support for various clients. Risks involve server failure impacting all users and high server load during emergencies.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6EC93C-7F9C-4A27-B9DB-116B523A2B79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141381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6433"/>
            <a:ext cx="79921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3. Microservices Architecture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988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Breaks the system into independent services, each handling a specific function and communicating via APIs.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16893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851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SOS Service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71689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851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Chat Service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37497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44253" y="4872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AI Threat Detection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73749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07348" y="4872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Job &amp; Learning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93790" y="5559623"/>
            <a:ext cx="130428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kumimoji="0" lang="en-US" sz="2400" i="0" u="sng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Suitable (Recommended for Large Scale)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for FemShield's independent modules (Safety, Health, Education). Benefits are high scalability and fault isolation. Drawbacks include complex implementation and higher infrastructure costs.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008969-CC9B-47F1-923A-E321D84D3592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171360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2615"/>
            <a:ext cx="7755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4. Event-Driven Architecture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350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Works on events and triggers, where events automatically trigger actions.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53076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787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SOS Button Pressed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653076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787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AI Detects Sound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653076"/>
            <a:ext cx="4347567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15738" y="4787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Enters Unsafe Zone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93790" y="5623441"/>
            <a:ext cx="130428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kumimoji="0" lang="en-US" sz="2800" i="0" u="sng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Highly Suitable for FemShield's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real-time reactions like SOS alerts and push notifications. Benefits include real-time responsiveness and loose coupling. Risks involve harder debugging and potential event loss.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A1C9C-D8DF-46BA-9920-49DCC07ABF43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99255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0909"/>
            <a:ext cx="126237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5. MVC (Model–View–Controller) Architecture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233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Separates application into Model (data), View (UI), and Controller (user actions &amp; logic).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68184"/>
            <a:ext cx="3397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Suitability for FemShield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49328"/>
            <a:ext cx="6244709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kumimoji="0" lang="en-US" sz="2800" i="0" u="sng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Suitable (Frontend Level)</a:t>
            </a:r>
            <a:endParaRPr kumimoji="0" lang="en-US" sz="280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239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Web dashboards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1661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Admin panels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6083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UI-heavy modules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3568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Benefits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41493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Clean UI structure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45915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Easy UI maintenance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50337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Parallel development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63056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Not ideal for full backend systems and can become complex with large logic.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36610C-026B-495A-BCC3-5EF02864BCE7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141067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6242"/>
            <a:ext cx="106399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6. SOA (Service-Oriented Architecture)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286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Uses reusable services that communicate over a network. Services are larger and less independent than microservices.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46703"/>
            <a:ext cx="6407944" cy="3098602"/>
          </a:xfrm>
          <a:prstGeom prst="roundRect">
            <a:avLst>
              <a:gd name="adj" fmla="val 1098"/>
            </a:avLst>
          </a:prstGeom>
          <a:solidFill>
            <a:srgbClr val="404245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3735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560564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280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Not Recommended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0604" y="4771192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FemShield needs real-time speed, but SOA services are heavy and slow.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28548" y="3146703"/>
            <a:ext cx="6408063" cy="3098602"/>
          </a:xfrm>
          <a:prstGeom prst="roundRect">
            <a:avLst>
              <a:gd name="adj" fmla="val 1098"/>
            </a:avLst>
          </a:prstGeom>
          <a:solidFill>
            <a:srgbClr val="404245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362" y="33735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2528" y="3560564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362" y="4280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Risks If Used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655362" y="477119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 delays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655362" y="521339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Complex dependencies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655362" y="565558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Harder scaling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93790" y="65004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Better alternatives like Microservices exist for FemShield's needs.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EFA14B-27E5-49CD-B377-D9EB2C970F79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3360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2233"/>
            <a:ext cx="9143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7. Peer-to-Peer (P2P) Architecture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346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In P2P, all nodes act as both client and server.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452693"/>
            <a:ext cx="6407944" cy="2486620"/>
          </a:xfrm>
          <a:prstGeom prst="roundRect">
            <a:avLst>
              <a:gd name="adj" fmla="val 1368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81" y="3347085"/>
            <a:ext cx="272177" cy="27217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165" y="5772745"/>
            <a:ext cx="272177" cy="2721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4431" y="3823335"/>
            <a:ext cx="413111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❌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 Not Suitable for FemShield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64431" y="4321373"/>
            <a:ext cx="5666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No centralized control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64431" y="4763572"/>
            <a:ext cx="5666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Significant security risks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64431" y="5205770"/>
            <a:ext cx="56666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Cannot ensure data integrity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428548" y="3452693"/>
            <a:ext cx="6408063" cy="2486620"/>
          </a:xfrm>
          <a:prstGeom prst="roundRect">
            <a:avLst>
              <a:gd name="adj" fmla="val 1368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939" y="3347085"/>
            <a:ext cx="272177" cy="272177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0042" y="5772745"/>
            <a:ext cx="272177" cy="2721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99189" y="3823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Risks If Used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799189" y="4313753"/>
            <a:ext cx="56667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Data leakage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799189" y="4755952"/>
            <a:ext cx="56667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Unreliable emergency handling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799189" y="5198150"/>
            <a:ext cx="56667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No administrative monitoring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93790" y="61944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This architecture would compromise the core safety and reliability features of FemShield.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8E3DA-2DD5-4A16-8863-035CFB4AC1B6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6528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5568"/>
            <a:ext cx="83022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8. Pipe-and-Filter Architecture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479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Data flows through a sequence of processing units (filters).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806190"/>
            <a:ext cx="6407944" cy="2119789"/>
          </a:xfrm>
          <a:prstGeom prst="roundRect">
            <a:avLst>
              <a:gd name="adj" fmla="val 6902"/>
            </a:avLst>
          </a:prstGeom>
          <a:solidFill>
            <a:srgbClr val="212326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775710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346602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614" y="3670102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4373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Not Suitable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084" y="4863584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FemShield is interactive, not primarily data-stream based.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28548" y="3806190"/>
            <a:ext cx="6408063" cy="2119789"/>
          </a:xfrm>
          <a:prstGeom prst="roundRect">
            <a:avLst>
              <a:gd name="adj" fmla="val 6902"/>
            </a:avLst>
          </a:prstGeom>
          <a:solidFill>
            <a:srgbClr val="212326"/>
          </a:solidFill>
          <a:ln/>
        </p:spPr>
      </p:sp>
      <p:sp>
        <p:nvSpPr>
          <p:cNvPr id="11" name="Shape 8"/>
          <p:cNvSpPr/>
          <p:nvPr/>
        </p:nvSpPr>
        <p:spPr>
          <a:xfrm>
            <a:off x="7428548" y="3775710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346602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6371" y="3670102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4373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Risks If Used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685842" y="4863584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Poor user interaction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685842" y="5305782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Difficult integration with UI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93790" y="61811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This architecture is not designed for real-time, interactive user interfaces.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6495D8-88F5-4066-B0A4-BE874B67B67B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85465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7108"/>
            <a:ext cx="60315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9. Broker Architecture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895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Uses a broker to manage communication between components.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34383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⚠️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 Partially Suitable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2231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Can be used for: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901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Message routing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2323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Notification services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3634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Benefits &amp; Risks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2155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Decouples components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46577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Flexible communication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50999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Broker failure affects system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55421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Adds latency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62394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While useful for specific communication aspects, it introduces potential single points of failure and latency.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ED79A-689B-4FCC-8D77-1B7F48541F55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3221621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7069"/>
            <a:ext cx="95139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10. Component-Based Architecture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794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System is built using reusable, independent components.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097530"/>
            <a:ext cx="4196358" cy="3196947"/>
          </a:xfrm>
          <a:prstGeom prst="roundRect">
            <a:avLst>
              <a:gd name="adj" fmla="val 17028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324344"/>
            <a:ext cx="2941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FemShield Suitability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604" y="3814762"/>
            <a:ext cx="3742730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Suitable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604" y="43213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UI modules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component-based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604" y="48203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SOS Component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0604" y="526256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Chat Component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0604" y="5704761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Map Component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16962" y="3097530"/>
            <a:ext cx="4196358" cy="3196947"/>
          </a:xfrm>
          <a:prstGeom prst="roundRect">
            <a:avLst>
              <a:gd name="adj" fmla="val 17028"/>
            </a:avLst>
          </a:prstGeom>
          <a:solidFill>
            <a:srgbClr val="404245"/>
          </a:solidFill>
          <a:ln/>
        </p:spPr>
      </p:sp>
      <p:sp>
        <p:nvSpPr>
          <p:cNvPr id="12" name="Text 10"/>
          <p:cNvSpPr/>
          <p:nvPr/>
        </p:nvSpPr>
        <p:spPr>
          <a:xfrm>
            <a:off x="5443776" y="33243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Benefits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3776" y="38147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Reusability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3776" y="4256961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Easy maintenance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43776" y="469915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Faster development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40133" y="3097530"/>
            <a:ext cx="4196358" cy="3196947"/>
          </a:xfrm>
          <a:prstGeom prst="roundRect">
            <a:avLst>
              <a:gd name="adj" fmla="val 17028"/>
            </a:avLst>
          </a:prstGeom>
          <a:solidFill>
            <a:srgbClr val="404245"/>
          </a:solidFill>
          <a:ln/>
        </p:spPr>
      </p:sp>
      <p:sp>
        <p:nvSpPr>
          <p:cNvPr id="17" name="Text 15"/>
          <p:cNvSpPr/>
          <p:nvPr/>
        </p:nvSpPr>
        <p:spPr>
          <a:xfrm>
            <a:off x="9866948" y="33243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Drawbacks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66948" y="381476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Component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dependency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issues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66948" y="425696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Version management complexity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3790" y="65496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This architecture promotes modularity and efficiency in development.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0BB333-A8A1-4F0B-B5BE-C70FBFDF4BFC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4837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447"/>
            <a:ext cx="11008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Final Architecture Choice for FemShield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93790" y="1877854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29171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Client–Server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20604" y="35023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communication model.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216962" y="1877854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942" y="229171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011924"/>
            <a:ext cx="2884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Layered Architecture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5443776" y="35023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Structured organization.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9640133" y="1877854"/>
            <a:ext cx="4196358" cy="2214205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29171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Microservices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9866948" y="35023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Ensures scalability.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793790" y="4318873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454568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7770" y="4732734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452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Event-Driven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1020604" y="594336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SOS response.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7428548" y="4318873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454568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4732734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452943"/>
            <a:ext cx="3534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Component-Based + MVC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7655362" y="594336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user interface.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793790" y="678822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hybrid architecture ensures </a:t>
            </a:r>
            <a:r>
              <a:rPr lang="en-US" sz="20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security, scalability, real-time response, and maintainability</a:t>
            </a:r>
            <a:r>
              <a:rPr lang="en-US" sz="2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making it ideal for FemShield.</a:t>
            </a:r>
            <a:endParaRPr lang="en-US" sz="2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61E005-6795-4097-BD0D-A2E4E6EF5E91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10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 of Architecture Analysis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133951" y="3348633"/>
            <a:ext cx="127026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FemShield requires a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robust, scalable, and real-time architecture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due to its safety-critical nature. The selected architectures align with both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academic requirements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real-world industry standards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ensuring clarity, performance, and future growth.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3790" y="3093482"/>
            <a:ext cx="30480" cy="1599009"/>
          </a:xfrm>
          <a:prstGeom prst="rect">
            <a:avLst/>
          </a:prstGeom>
          <a:solidFill>
            <a:srgbClr val="8448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947642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4253" y="5082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Robustness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644253" y="557272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Ensuring system resilience and reliability.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4947642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6356" y="5082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Scalability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6086356" y="557272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Ability to handle future growth and demand.</a:t>
            </a:r>
            <a:endParaRPr lang="en-US" sz="2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4947642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28459" y="5082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10528459" y="557272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Immediate response for critical situations.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77512-D0D2-497C-9E26-C6D65EE106D8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020" y="572810"/>
            <a:ext cx="8758595" cy="65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6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FemShield – Architecture Diagram</a:t>
            </a:r>
            <a:endParaRPr lang="en-US" sz="6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08" y="1640324"/>
            <a:ext cx="13123783" cy="6118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6180" y="2482621"/>
            <a:ext cx="2963738" cy="370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Presentation Layer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64942" y="2958465"/>
            <a:ext cx="3134976" cy="59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interfaces for web and mobile clients.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430353" y="3483705"/>
            <a:ext cx="2963738" cy="370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Application Layer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430353" y="3959550"/>
            <a:ext cx="3134976" cy="59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Microservices handling auth, API, and business logic.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6180" y="4511135"/>
            <a:ext cx="2963738" cy="370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Layer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64942" y="4986979"/>
            <a:ext cx="3134976" cy="59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Databases, caches, and secure data stores.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430353" y="5657113"/>
            <a:ext cx="3001402" cy="370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External Integrations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430353" y="6132958"/>
            <a:ext cx="3134976" cy="59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Third-party APIs, payment, and notification services.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74E4B6-CBF3-401D-B9FE-39AF77638DAC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000"/>
          </a:p>
        </p:txBody>
      </p:sp>
    </p:spTree>
    <p:extLst>
      <p:ext uri="{BB962C8B-B14F-4D97-AF65-F5344CB8AC3E}">
        <p14:creationId xmlns:p14="http://schemas.microsoft.com/office/powerpoint/2010/main" val="90197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CFC8B-A0AD-4F47-872E-4FCD98211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39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848" y="525780"/>
            <a:ext cx="11809152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FemShield System Architecture Diagram </a:t>
            </a:r>
            <a:r>
              <a:rPr lang="en-US" sz="4000" dirty="0" err="1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Explaination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17163" y="1564406"/>
            <a:ext cx="1209508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visual explanation of the core components and their interactions within the FemShield system.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658" y="2110784"/>
            <a:ext cx="12095083" cy="5679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55030" y="6278918"/>
            <a:ext cx="2653825" cy="33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User Interface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53497" y="6705004"/>
            <a:ext cx="3255359" cy="26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and web apps for users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904015" y="5353028"/>
            <a:ext cx="2653825" cy="33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API Gateway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904015" y="5779114"/>
            <a:ext cx="3172795" cy="26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Routing, auth, rate limiting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54846" y="4509701"/>
            <a:ext cx="2653825" cy="331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Microservices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3313" y="4935787"/>
            <a:ext cx="3255359" cy="26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Auth, alerts, profiles, analytics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904015" y="3380351"/>
            <a:ext cx="2653825" cy="33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Database Layer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904015" y="3806437"/>
            <a:ext cx="3172795" cy="53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Encrypted user and event storage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21305" y="2607793"/>
            <a:ext cx="2687551" cy="33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External Integrations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3497" y="3033879"/>
            <a:ext cx="3255359" cy="53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Emergency services and community APIs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2418D4-3A51-469E-876C-6B26A8C8EE50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6750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010653"/>
            <a:ext cx="13644105" cy="163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FemShield: Hybrid Architecture </a:t>
            </a:r>
          </a:p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Overview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8361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FemShield application uses a hybrid software architecture to meet its safety-critical, real-time, and scalable requirements. This combination ensures security, scalability, modularity, and real-time responsiveness essential for a women's safety platform.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4446508"/>
            <a:ext cx="4196358" cy="807958"/>
          </a:xfrm>
          <a:prstGeom prst="roundRect">
            <a:avLst>
              <a:gd name="adj" fmla="val 4211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6733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Client–Server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6962" y="4446508"/>
            <a:ext cx="4196358" cy="807958"/>
          </a:xfrm>
          <a:prstGeom prst="roundRect">
            <a:avLst>
              <a:gd name="adj" fmla="val 4211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46733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Layered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40133" y="4446508"/>
            <a:ext cx="4196358" cy="807958"/>
          </a:xfrm>
          <a:prstGeom prst="roundRect">
            <a:avLst>
              <a:gd name="adj" fmla="val 4211"/>
            </a:avLst>
          </a:prstGeom>
          <a:solidFill>
            <a:srgbClr val="404245"/>
          </a:solidFill>
          <a:ln/>
        </p:spPr>
      </p:sp>
      <p:sp>
        <p:nvSpPr>
          <p:cNvPr id="9" name="Text 7"/>
          <p:cNvSpPr/>
          <p:nvPr/>
        </p:nvSpPr>
        <p:spPr>
          <a:xfrm>
            <a:off x="9866948" y="46733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Microservices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5481280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404245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5708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Event-Driven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8548" y="5481280"/>
            <a:ext cx="6407944" cy="807958"/>
          </a:xfrm>
          <a:prstGeom prst="roundRect">
            <a:avLst>
              <a:gd name="adj" fmla="val 4211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708094"/>
            <a:ext cx="36175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Component-Based &amp; MVC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E62AD7-CA33-476D-BD1C-AE6322D16AE2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3153982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743"/>
            <a:ext cx="80227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Client Layer: User Interaction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1715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Presentation Layer provides the user interface for all features, collects user input, and displays real-time alerts. It leverages Client-Server and MVC architectures.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249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Components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706064"/>
            <a:ext cx="6244709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Mobile Application (Android / iOS) </a:t>
            </a:r>
          </a:p>
          <a:p>
            <a:pPr marR="0" lvl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     for  users.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5221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Web Application (Admin Panel) for monitoring and control.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41249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Key Responsibilities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7060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SOS triggering &amp; location sharing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51482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Safe zone viewing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559046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Chat and community access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603265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Real-time alerts &amp; notifications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83AA89-40AD-45C8-87C4-D3EDFFFFAEBF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540164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0488"/>
            <a:ext cx="8919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API Gateway: Secure Entry Point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628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API Gateway acts as the single entry point, routing client requests to appropriate microservices while enforcing security policies.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4143851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4143851"/>
            <a:ext cx="121920" cy="2085142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401145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Authentication &amp; Authorization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524589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Performs checks to ensure secure access.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4143851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4143851"/>
            <a:ext cx="121920" cy="2085142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4401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Request Routing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65696" y="489156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Directs client requests to the correct backend services.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4143851"/>
            <a:ext cx="4196358" cy="2085142"/>
          </a:xfrm>
          <a:prstGeom prst="roundRect">
            <a:avLst>
              <a:gd name="adj" fmla="val 7017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4143851"/>
            <a:ext cx="121920" cy="2085142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4401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Security Policies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88868" y="489156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Enforces security measures and reduces direct client access.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FED258-B779-4D80-975A-D2EF23A7119D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1295197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8946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Application Layer: Microservices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120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This layer uses Microservices Architecture, with each service performing a single, well-defined function.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3007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80542"/>
            <a:ext cx="3099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Authentication Service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87096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User login, OTP, biometric authentication, session management.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2530078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33805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SOS &amp; Emergency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5893" y="387096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Handles SOS, sends alerts, shares live location, triggers notifications.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530078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3380542"/>
            <a:ext cx="2936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Live Location Service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77995" y="387096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Tracks GPS, shares with contacts, stores history.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050393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3790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AI Threat Detection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93790" y="639127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Detects unusual sound/motion, auto-triggers SOS using ML and NLP.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893" y="5050393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893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Safe Zone &amp; Map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235893" y="639127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Displays safe/unsafe areas, uses crowd-sourced data, integrates Google Maps.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7ADE18-C2FA-4094-9C90-60C1176B5197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1311160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1376" y="507206"/>
            <a:ext cx="8291632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Application Layer: Extended Services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81376" y="1452443"/>
            <a:ext cx="737830" cy="1106805"/>
          </a:xfrm>
          <a:prstGeom prst="roundRect">
            <a:avLst>
              <a:gd name="adj" fmla="val 360022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1711881" y="1832848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03634" y="1636871"/>
            <a:ext cx="261580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Chat &amp; Communication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03634" y="2035731"/>
            <a:ext cx="1074527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In-app chat with contacts/volunteers, anonymous helpline, end-to-end encrypted.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81376" y="2743676"/>
            <a:ext cx="737830" cy="1106805"/>
          </a:xfrm>
          <a:prstGeom prst="roundRect">
            <a:avLst>
              <a:gd name="adj" fmla="val 360022"/>
            </a:avLst>
          </a:prstGeom>
          <a:solidFill>
            <a:srgbClr val="404245"/>
          </a:solidFill>
          <a:ln/>
        </p:spPr>
      </p:sp>
      <p:sp>
        <p:nvSpPr>
          <p:cNvPr id="8" name="Text 6"/>
          <p:cNvSpPr/>
          <p:nvPr/>
        </p:nvSpPr>
        <p:spPr>
          <a:xfrm>
            <a:off x="1711881" y="3124081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03634" y="2928104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Health &amp; Wellness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03634" y="3326963"/>
            <a:ext cx="1074527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Mental health counseling, fitness plans, medication reminders, health articles.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481376" y="4034909"/>
            <a:ext cx="737830" cy="1106805"/>
          </a:xfrm>
          <a:prstGeom prst="roundRect">
            <a:avLst>
              <a:gd name="adj" fmla="val 360022"/>
            </a:avLst>
          </a:prstGeom>
          <a:solidFill>
            <a:srgbClr val="404245"/>
          </a:solidFill>
          <a:ln/>
        </p:spPr>
      </p:sp>
      <p:sp>
        <p:nvSpPr>
          <p:cNvPr id="12" name="Text 10"/>
          <p:cNvSpPr/>
          <p:nvPr/>
        </p:nvSpPr>
        <p:spPr>
          <a:xfrm>
            <a:off x="1711881" y="4415314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03634" y="4219337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Education &amp; Career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03634" y="4618196"/>
            <a:ext cx="1074527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E-learning, scholarships, job board, resume builder, mentorship.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81376" y="5326142"/>
            <a:ext cx="737830" cy="1106805"/>
          </a:xfrm>
          <a:prstGeom prst="roundRect">
            <a:avLst>
              <a:gd name="adj" fmla="val 360022"/>
            </a:avLst>
          </a:prstGeom>
          <a:solidFill>
            <a:srgbClr val="404245"/>
          </a:solidFill>
          <a:ln/>
        </p:spPr>
      </p:sp>
      <p:sp>
        <p:nvSpPr>
          <p:cNvPr id="16" name="Text 14"/>
          <p:cNvSpPr/>
          <p:nvPr/>
        </p:nvSpPr>
        <p:spPr>
          <a:xfrm>
            <a:off x="1711881" y="5706547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03634" y="5510570"/>
            <a:ext cx="270855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Community &amp; Reporting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03634" y="5909429"/>
            <a:ext cx="1074527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Incident reporting, discussions, anonymous reports, NGO integration.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81376" y="6617375"/>
            <a:ext cx="737830" cy="1106805"/>
          </a:xfrm>
          <a:prstGeom prst="roundRect">
            <a:avLst>
              <a:gd name="adj" fmla="val 360022"/>
            </a:avLst>
          </a:prstGeom>
          <a:solidFill>
            <a:srgbClr val="404245"/>
          </a:solidFill>
          <a:ln/>
        </p:spPr>
      </p:sp>
      <p:sp>
        <p:nvSpPr>
          <p:cNvPr id="20" name="Text 18"/>
          <p:cNvSpPr/>
          <p:nvPr/>
        </p:nvSpPr>
        <p:spPr>
          <a:xfrm>
            <a:off x="1711881" y="6997779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03634" y="680180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Notification Service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03634" y="7200662"/>
            <a:ext cx="1074527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Push, SMS, email alerts for SOS, warnings, updates (Twilio SMS API).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296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5688"/>
            <a:ext cx="12670274" cy="183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Event-Driven Layer: Real-time </a:t>
            </a:r>
          </a:p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Responsiveness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9836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Message Broker implements an Event-Driven Architecture for real-time operations, ensuring loose coupling, high scalability, and reliable communication.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79319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5213390"/>
            <a:ext cx="32268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Services Publish Events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0604" y="570380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e.g., "SOS triggered"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4079319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5213390"/>
            <a:ext cx="3491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Broker Distributes Events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5368171" y="570380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To relevant subscribers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4079319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52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Instant Processing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715738" y="570380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Notifications and alerts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40A91D-9441-456D-9763-62FAEEA5C906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2144950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1458191"/>
            <a:ext cx="84428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Security Layer: Trust &amp; Privacy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25360" y="2635957"/>
            <a:ext cx="14614903" cy="1207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Security Layer is critical for user trust and data privacy, ensuring end-to-end </a:t>
            </a:r>
          </a:p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encryption and controlled access.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385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Encryption Engine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9668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encryption of sensitive data.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409009"/>
            <a:ext cx="6244709" cy="1617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Protects chat, location, and personal </a:t>
            </a:r>
          </a:p>
          <a:p>
            <a:pPr marR="0" lvl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information.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4407329"/>
            <a:ext cx="4748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Role-Based Access Control (RBAC)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9668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Controls user permissions.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5409009"/>
            <a:ext cx="6244709" cy="94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Ensures only authorized actions are </a:t>
            </a:r>
          </a:p>
          <a:p>
            <a:pPr marR="0" lvl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      performed.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838CE-65DA-4928-917C-F474F5A8EF11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800"/>
          </a:p>
        </p:txBody>
      </p:sp>
    </p:spTree>
    <p:extLst>
      <p:ext uri="{BB962C8B-B14F-4D97-AF65-F5344CB8AC3E}">
        <p14:creationId xmlns:p14="http://schemas.microsoft.com/office/powerpoint/2010/main" val="1325306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6682"/>
            <a:ext cx="74371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Data Layer: Secure Storage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890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Data Layer utilizes a Layered Architecture for data abstraction and security separation, storing various types of critical information.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4170045"/>
            <a:ext cx="13042821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170045"/>
            <a:ext cx="4347567" cy="2032754"/>
          </a:xfrm>
          <a:prstGeom prst="roundRect">
            <a:avLst>
              <a:gd name="adj" fmla="val 1674"/>
            </a:avLst>
          </a:prstGeom>
          <a:solidFill>
            <a:srgbClr val="404245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User Database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604" y="4887278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User profiles, authentication, emergency contacts (Firebase / PostgreSQL).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41357" y="4170045"/>
            <a:ext cx="4347567" cy="2032754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9" name="Shape 7"/>
          <p:cNvSpPr/>
          <p:nvPr/>
        </p:nvSpPr>
        <p:spPr>
          <a:xfrm>
            <a:off x="5141357" y="4170045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595B5E"/>
          </a:solidFill>
          <a:ln/>
        </p:spPr>
      </p:sp>
      <p:sp>
        <p:nvSpPr>
          <p:cNvPr id="10" name="Text 8"/>
          <p:cNvSpPr/>
          <p:nvPr/>
        </p:nvSpPr>
        <p:spPr>
          <a:xfrm>
            <a:off x="5368171" y="4396859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Incident &amp; Location Database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68171" y="524160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SOS incidents, location history, community reports.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88924" y="4170045"/>
            <a:ext cx="4882396" cy="2032754"/>
          </a:xfrm>
          <a:prstGeom prst="rect">
            <a:avLst/>
          </a:prstGeom>
          <a:solidFill>
            <a:srgbClr val="404245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8924" y="4170045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595B5E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738" y="4396859"/>
            <a:ext cx="36297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Analytics &amp; Logs Database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15738" y="488727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System logs, performance metrics, usage analytics.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53DFAF-629A-4DE8-B824-CED305D92CEC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2867641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3351"/>
            <a:ext cx="11160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External Services Layer: Key Integrations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55758"/>
            <a:ext cx="13042821" cy="883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FemShield integrates with several external services to enhance functionality and provide comprehensive </a:t>
            </a:r>
          </a:p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support.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13973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212326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183493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540" y="287381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614" y="3077885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7809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Google Maps API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084" y="427136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Location tracking, safe zone mapping.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28548" y="3213973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212326"/>
          </a:solidFill>
          <a:ln/>
        </p:spPr>
      </p:sp>
      <p:sp>
        <p:nvSpPr>
          <p:cNvPr id="11" name="Shape 8"/>
          <p:cNvSpPr/>
          <p:nvPr/>
        </p:nvSpPr>
        <p:spPr>
          <a:xfrm>
            <a:off x="7428548" y="3183493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2298" y="287381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6371" y="3077885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5842" y="37809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Twilio SMS API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685842" y="427136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SMS emergency alerts.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93790" y="5458539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212326"/>
          </a:solidFill>
          <a:ln/>
        </p:spPr>
      </p:sp>
      <p:sp>
        <p:nvSpPr>
          <p:cNvPr id="17" name="Shape 13"/>
          <p:cNvSpPr/>
          <p:nvPr/>
        </p:nvSpPr>
        <p:spPr>
          <a:xfrm>
            <a:off x="793790" y="5428059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540" y="511837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614" y="5322451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084" y="6025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OpenAI API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051084" y="651593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AI chatbot, NLP for guidance.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428548" y="5458539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212326"/>
          </a:solidFill>
          <a:ln/>
        </p:spPr>
      </p:sp>
      <p:sp>
        <p:nvSpPr>
          <p:cNvPr id="23" name="Shape 18"/>
          <p:cNvSpPr/>
          <p:nvPr/>
        </p:nvSpPr>
        <p:spPr>
          <a:xfrm>
            <a:off x="7428548" y="5428059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24" name="Shape 19"/>
          <p:cNvSpPr/>
          <p:nvPr/>
        </p:nvSpPr>
        <p:spPr>
          <a:xfrm>
            <a:off x="10292298" y="511837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482D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6371" y="5322451"/>
            <a:ext cx="272177" cy="27217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85842" y="6025515"/>
            <a:ext cx="41981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Authorities / Law Enforcement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685842" y="651593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Receives SOS alerts during critical emergencies.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651023-5F42-4AD6-A6A7-8B2E9BF39FA0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2696802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7479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2D4BA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End-to-End Flow Summary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495193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User Interaction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Via Mobile or Web App.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6962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2495193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API Gateway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6962" y="3159919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Routes and authenticates requests.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40133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2495193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669500"/>
            <a:ext cx="33347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Microservice Processing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0133" y="3159919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Appropriate service handles request.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4274701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Event Publishing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To Message Broker (if needed).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6962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16962" y="4274701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1" name="Text 19"/>
          <p:cNvSpPr/>
          <p:nvPr/>
        </p:nvSpPr>
        <p:spPr>
          <a:xfrm>
            <a:off x="5216962" y="4449008"/>
            <a:ext cx="31184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Real-time Notifications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16962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Sent instantly.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40133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640133" y="4274701"/>
            <a:ext cx="4196358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5" name="Text 23"/>
          <p:cNvSpPr/>
          <p:nvPr/>
        </p:nvSpPr>
        <p:spPr>
          <a:xfrm>
            <a:off x="9640133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Secure Data Storage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40133" y="4939427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In relevant databases.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3790" y="6054209"/>
            <a:ext cx="13042702" cy="3048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9" name="Text 27"/>
          <p:cNvSpPr/>
          <p:nvPr/>
        </p:nvSpPr>
        <p:spPr>
          <a:xfrm>
            <a:off x="793790" y="6228517"/>
            <a:ext cx="344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Prata" pitchFamily="34" charset="0"/>
                <a:ea typeface="Prata" pitchFamily="34" charset="-122"/>
                <a:cs typeface="Prata" pitchFamily="34" charset="-120"/>
              </a:rPr>
              <a:t>External Service Support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3790" y="6718935"/>
            <a:ext cx="13042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DA18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Maps, SMS, and AI integration.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92A7C3-9EDE-4E25-B3C6-8955AB44E7C2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874511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5447"/>
            <a:ext cx="96641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FemShield Architecture: Key Pillars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93790" y="187785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042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29171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Secure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20604" y="350234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Encryption + Role-Based Access Control (RBAC)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216962" y="187785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942" y="229171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Scalable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5443776" y="350234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Microservices + Cloud Infrastructure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9640133" y="187785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04245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10466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29171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0119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Real-Time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9866948" y="35023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Event-Driven Processing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793790" y="4681776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49085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7770" y="5095637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815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Maintainable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1020604" y="630626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Layered &amp; Component-Based Design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7428548" y="4681776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404245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49085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5095637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815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Reliable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7655362" y="630626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Client-Server + API Gateway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793790" y="7151132"/>
            <a:ext cx="13042821" cy="972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robust architecture ensures FemShield effectively supports women’s safety, empowerment, and well-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being.</a:t>
            </a:r>
            <a:endParaRPr lang="en-US" sz="2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7888AF-4DF6-477C-97D0-3EB5E98DEBCE}"/>
              </a:ext>
            </a:extLst>
          </p:cNvPr>
          <p:cNvSpPr/>
          <p:nvPr/>
        </p:nvSpPr>
        <p:spPr>
          <a:xfrm>
            <a:off x="12849725" y="7629976"/>
            <a:ext cx="1696453" cy="493295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100942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1683</Words>
  <Application>Microsoft Office PowerPoint</Application>
  <PresentationFormat>Custom</PresentationFormat>
  <Paragraphs>317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Prata Light</vt:lpstr>
      <vt:lpstr>Prata</vt:lpstr>
      <vt:lpstr>Calibri</vt:lpstr>
      <vt:lpstr>Manrope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Muhammad Anas</dc:creator>
  <cp:lastModifiedBy>Muhammad Anas</cp:lastModifiedBy>
  <cp:revision>5</cp:revision>
  <dcterms:created xsi:type="dcterms:W3CDTF">2026-01-18T21:27:06Z</dcterms:created>
  <dcterms:modified xsi:type="dcterms:W3CDTF">2026-01-18T22:19:30Z</dcterms:modified>
</cp:coreProperties>
</file>